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1" r:id="rId4"/>
    <p:sldId id="262" r:id="rId5"/>
    <p:sldId id="257" r:id="rId6"/>
    <p:sldId id="264" r:id="rId7"/>
    <p:sldId id="258" r:id="rId8"/>
    <p:sldId id="263" r:id="rId9"/>
    <p:sldId id="259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05"/>
    <p:restoredTop sz="94682"/>
  </p:normalViewPr>
  <p:slideViewPr>
    <p:cSldViewPr snapToGrid="0" snapToObjects="1">
      <p:cViewPr>
        <p:scale>
          <a:sx n="82" d="100"/>
          <a:sy n="82" d="100"/>
        </p:scale>
        <p:origin x="1464" y="159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A6F18-5FF6-7241-99D2-E6BBAB6CF301}" type="datetimeFigureOut">
              <a:t>2026/06/02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96F9E-A88F-F645-9748-DADD5E364EF9}" type="slidenum"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04389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96F9E-A88F-F645-9748-DADD5E364EF9}" type="slidenum">
              <a:t>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24936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erm.jp/function/wx5400hp/guide/meshnetwork.html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769" y="408718"/>
            <a:ext cx="7428461" cy="1973561"/>
          </a:xfrm>
        </p:spPr>
        <p:txBody>
          <a:bodyPr>
            <a:noAutofit/>
          </a:bodyPr>
          <a:lstStyle/>
          <a:p>
            <a:r>
              <a:rPr sz="3200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WiFi</a:t>
            </a:r>
            <a:r>
              <a:rPr sz="3200" b="1" dirty="0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 </a:t>
            </a:r>
            <a:r>
              <a:rPr lang="en-JP" sz="3200" b="1" dirty="0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の</a:t>
            </a:r>
            <a:r>
              <a:rPr lang="ja-JP" altLang="en-US" sz="3200" b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受信信号強度</a:t>
            </a:r>
            <a:r>
              <a:rPr sz="3200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を</a:t>
            </a:r>
            <a:r>
              <a:rPr lang="en-JP" sz="3200" b="1" dirty="0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利</a:t>
            </a:r>
            <a:r>
              <a:rPr sz="3200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用</a:t>
            </a:r>
            <a:r>
              <a:rPr lang="en-JP" sz="3200" b="1" dirty="0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し</a:t>
            </a:r>
            <a:r>
              <a:rPr sz="3200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た</a:t>
            </a:r>
            <a:br>
              <a:rPr lang="en-US" sz="3200" b="1" dirty="0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</a:br>
            <a:r>
              <a:rPr sz="3200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アクセスポイント</a:t>
            </a:r>
            <a:r>
              <a:rPr lang="en-JP" sz="3200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の</a:t>
            </a:r>
            <a:r>
              <a:rPr sz="3200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可視化</a:t>
            </a:r>
            <a:endParaRPr sz="3200" b="1" dirty="0">
              <a:latin typeface="Tsukushi A Round Gothic Bold" panose="02020400000000000000" pitchFamily="18" charset="-128"/>
              <a:ea typeface="Tsukushi A Round Gothic Bold" panose="02020400000000000000" pitchFamily="18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1DS24220G 島本恵佑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8ACA09-7654-B750-658A-8CBB7DF84E5A}"/>
              </a:ext>
            </a:extLst>
          </p:cNvPr>
          <p:cNvSpPr txBox="1">
            <a:spLocks/>
          </p:cNvSpPr>
          <p:nvPr/>
        </p:nvSpPr>
        <p:spPr>
          <a:xfrm>
            <a:off x="189963" y="100480"/>
            <a:ext cx="7778379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コンセプト</a:t>
            </a:r>
            <a:r>
              <a:rPr lang="en-US" altLang="ja-JP" b="1" dirty="0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: </a:t>
            </a:r>
            <a:r>
              <a:rPr lang="ja-JP" altLang="en-US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めくるめくルーターの世界</a:t>
            </a:r>
            <a:endParaRPr lang="ja-JP" altLang="en-US" b="1" dirty="0">
              <a:latin typeface="Tsukushi A Round Gothic Bold" panose="02020400000000000000" pitchFamily="18" charset="-128"/>
              <a:ea typeface="Tsukushi A Round Gothic Bold" panose="02020400000000000000" pitchFamily="18" charset="-128"/>
            </a:endParaRPr>
          </a:p>
        </p:txBody>
      </p:sp>
      <p:pic>
        <p:nvPicPr>
          <p:cNvPr id="1026" name="Picture 2" descr="メッシュネットワークを構築する｜Aterm®WX5400HP ユーザーズマニュアル">
            <a:extLst>
              <a:ext uri="{FF2B5EF4-FFF2-40B4-BE49-F238E27FC236}">
                <a16:creationId xmlns:a16="http://schemas.microsoft.com/office/drawing/2014/main" id="{566DA9EC-9F0C-D3B8-C2D5-1ED8606E2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495" y="957730"/>
            <a:ext cx="3166351" cy="280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19F7EA-D478-478D-D02B-97D6A936E320}"/>
              </a:ext>
            </a:extLst>
          </p:cNvPr>
          <p:cNvSpPr txBox="1"/>
          <p:nvPr/>
        </p:nvSpPr>
        <p:spPr>
          <a:xfrm>
            <a:off x="6316864" y="3950862"/>
            <a:ext cx="235486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JP" sz="90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画像借用元：</a:t>
            </a:r>
          </a:p>
          <a:p>
            <a:pPr fontAlgn="base"/>
            <a:r>
              <a:rPr lang="en-JP" sz="90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Aterm WX5400HP ユーザーズマニュアル: メッシュネットワークを構築する</a:t>
            </a:r>
          </a:p>
          <a:p>
            <a:pPr fontAlgn="base"/>
            <a:r>
              <a:rPr lang="en-US" sz="9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  <a:hlinkClick r:id="rId3"/>
              </a:rPr>
              <a:t>https://www.aterm.jp/function/wx5400hp/guide/meshnetwork.html</a:t>
            </a:r>
            <a:r>
              <a:rPr lang="en-US" sz="9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 </a:t>
            </a:r>
            <a:endParaRPr lang="en-JP" sz="90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23930D-46C2-FAAA-9AFC-73AA2A59D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668" y="1341220"/>
            <a:ext cx="5481376" cy="3394472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ルーター（</a:t>
            </a:r>
            <a: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Router）</a:t>
            </a:r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とは、複数の</a:t>
            </a:r>
            <a:endParaRPr lang="en-US" altLang="ja-JP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ネットワーク同士を接続し、データの</a:t>
            </a:r>
            <a:endParaRPr lang="en-US" altLang="ja-JP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通信経路を決定する機器のこと</a:t>
            </a:r>
            <a:endParaRPr lang="en-US" altLang="ja-JP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0" indent="0">
              <a:buNone/>
            </a:pPr>
            <a:endParaRPr lang="en-US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0" indent="0">
              <a:buNone/>
            </a:pPr>
            <a:r>
              <a:rPr lang="en-US" dirty="0" err="1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行き先リスト（経路表）や</a:t>
            </a:r>
            <a: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、</a:t>
            </a:r>
          </a:p>
          <a:p>
            <a:pPr marL="0" indent="0">
              <a:buNone/>
            </a:pPr>
            <a: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経路の年齢（Age）などを知っている</a:t>
            </a:r>
          </a:p>
          <a:p>
            <a:pPr marL="0" indent="0">
              <a:buNone/>
            </a:pPr>
            <a:endParaRPr lang="en-US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0" indent="0">
              <a:buNone/>
            </a:pPr>
            <a:endParaRPr lang="en-US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1767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2C20461-6FF7-E433-D5F4-DAC0A1AFDFC1}"/>
              </a:ext>
            </a:extLst>
          </p:cNvPr>
          <p:cNvSpPr txBox="1">
            <a:spLocks/>
          </p:cNvSpPr>
          <p:nvPr/>
        </p:nvSpPr>
        <p:spPr>
          <a:xfrm>
            <a:off x="682810" y="2143125"/>
            <a:ext cx="7778379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近くのルーターに会いたい！！</a:t>
            </a:r>
            <a:endParaRPr lang="ja-JP" altLang="en-US" b="1" dirty="0">
              <a:latin typeface="Tsukushi A Round Gothic Bold" panose="02020400000000000000" pitchFamily="18" charset="-128"/>
              <a:ea typeface="Tsukushi A Round Gothic Bold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718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レーダー画面、航空管制レーダーモニター。背景は世界地図 – Nasaが提供する地球の画像。」のイラスト素材 1190226886 |  Shutterstock">
            <a:extLst>
              <a:ext uri="{FF2B5EF4-FFF2-40B4-BE49-F238E27FC236}">
                <a16:creationId xmlns:a16="http://schemas.microsoft.com/office/drawing/2014/main" id="{BADEE5CF-BF87-9E21-D010-453193CE8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43" y="1165539"/>
            <a:ext cx="4127500" cy="35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緑のレーダー画面。暗い背景にベクターイラスト」のベクター画像素材（ロイヤリティフリー） 216439570 | Shutterstock">
            <a:extLst>
              <a:ext uri="{FF2B5EF4-FFF2-40B4-BE49-F238E27FC236}">
                <a16:creationId xmlns:a16="http://schemas.microsoft.com/office/drawing/2014/main" id="{778C6409-F88D-674F-06C3-0AB572CA1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778" y="1142912"/>
            <a:ext cx="3319306" cy="357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D4018F6-8960-04A3-33C1-73A5C2BDB2A5}"/>
              </a:ext>
            </a:extLst>
          </p:cNvPr>
          <p:cNvSpPr txBox="1">
            <a:spLocks/>
          </p:cNvSpPr>
          <p:nvPr/>
        </p:nvSpPr>
        <p:spPr>
          <a:xfrm>
            <a:off x="189963" y="100480"/>
            <a:ext cx="7778379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ja-JP" altLang="en-US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カッコよく可視化したい</a:t>
            </a:r>
            <a:endParaRPr lang="ja-JP" altLang="en-US" b="1" dirty="0">
              <a:latin typeface="Tsukushi A Round Gothic Bold" panose="02020400000000000000" pitchFamily="18" charset="-128"/>
              <a:ea typeface="Tsukushi A Round Gothic Bold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6757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64" y="100480"/>
            <a:ext cx="3275970" cy="857250"/>
          </a:xfrm>
        </p:spPr>
        <p:txBody>
          <a:bodyPr/>
          <a:lstStyle/>
          <a:p>
            <a:pPr algn="l"/>
            <a:r>
              <a:rPr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システム構成</a:t>
            </a:r>
            <a:endParaRPr b="1" dirty="0">
              <a:latin typeface="Tsukushi A Round Gothic Bold" panose="02020400000000000000" pitchFamily="18" charset="-128"/>
              <a:ea typeface="Tsukushi A Round Gothic Bold" panose="02020400000000000000" pitchFamily="18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843"/>
            <a:ext cx="8229600" cy="339447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周囲の </a:t>
            </a:r>
            <a:r>
              <a:rPr dirty="0" err="1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WiFi</a:t>
            </a:r>
            <a:r>
              <a:rPr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 </a:t>
            </a:r>
            <a:r>
              <a:rPr lang="en-US" dirty="0" err="1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アクセスポイントを</a:t>
            </a:r>
            <a: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 </a:t>
            </a:r>
            <a:b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Arduino UNO R4 </a:t>
            </a:r>
            <a:r>
              <a:rPr lang="en-US" dirty="0" err="1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WiFi</a:t>
            </a:r>
            <a: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 </a:t>
            </a:r>
            <a:r>
              <a:rPr lang="en-US" dirty="0" err="1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でスキャン</a:t>
            </a:r>
            <a:b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endParaRPr lang="en-US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457200" indent="-457200">
              <a:buFont typeface="+mj-lt"/>
              <a:buAutoNum type="arabicPeriod"/>
            </a:pPr>
            <a:r>
              <a:rPr lang="en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スキャンで得られた情報をシリアル通信により</a:t>
            </a:r>
            <a:br>
              <a:rPr lang="en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r>
              <a:rPr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JSON</a:t>
            </a:r>
            <a:r>
              <a:rPr lang="en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形式で</a:t>
            </a:r>
            <a:r>
              <a:rPr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 Processing </a:t>
            </a:r>
            <a:r>
              <a:rPr lang="en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に送信</a:t>
            </a:r>
            <a:br>
              <a:rPr lang="en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endParaRPr lang="en-JP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Processing で情報を受信し、距離を推定。</a:t>
            </a:r>
            <a:b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レーダーマップへの描画を行う。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4C2BEF-175B-EF05-6A5C-27A1C0772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381" y="113469"/>
            <a:ext cx="1267655" cy="49165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CD3FE-5A4D-10DC-BF5C-F8DCDB7EA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E7524B7-EC86-0B7F-3FC5-AD16CED0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964" y="100480"/>
            <a:ext cx="3275970" cy="857250"/>
          </a:xfrm>
        </p:spPr>
        <p:txBody>
          <a:bodyPr>
            <a:normAutofit/>
          </a:bodyPr>
          <a:lstStyle/>
          <a:p>
            <a:pPr algn="l"/>
            <a:r>
              <a:rPr lang="en-JP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実装の詳細 1/3</a:t>
            </a:r>
            <a:endParaRPr b="1" dirty="0">
              <a:latin typeface="Tsukushi A Round Gothic Bold" panose="02020400000000000000" pitchFamily="18" charset="-128"/>
              <a:ea typeface="Tsukushi A Round Gothic Bold" panose="02020400000000000000" pitchFamily="18" charset="-128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E68B9D0-330F-504C-9DA4-545A55EE70DE}"/>
              </a:ext>
            </a:extLst>
          </p:cNvPr>
          <p:cNvSpPr txBox="1">
            <a:spLocks/>
          </p:cNvSpPr>
          <p:nvPr/>
        </p:nvSpPr>
        <p:spPr>
          <a:xfrm>
            <a:off x="457200" y="1125843"/>
            <a:ext cx="8229600" cy="380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キー押下のタイミングで</a:t>
            </a:r>
            <a:r>
              <a:rPr lang="en-US" altLang="ja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WiFi</a:t>
            </a:r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をスキャン</a:t>
            </a:r>
            <a:br>
              <a:rPr lang="en-US" altLang="ja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取得する情報</a:t>
            </a:r>
            <a:r>
              <a:rPr lang="en-US" altLang="ja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: SSID / BSSID / </a:t>
            </a:r>
            <a:r>
              <a:rPr lang="en-US" altLang="ja-JP" b="1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RSSI</a:t>
            </a:r>
            <a:r>
              <a:rPr lang="en-US" altLang="ja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 / Channel</a:t>
            </a:r>
          </a:p>
          <a:p>
            <a:endParaRPr lang="en-US" altLang="ja-JP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r>
              <a:rPr lang="en-US" altLang="ja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RSSI</a:t>
            </a:r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（</a:t>
            </a:r>
            <a: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Received Signal Strength Indicator）に着目</a:t>
            </a:r>
            <a:br>
              <a:rPr lang="en-US" altLang="ja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r>
              <a:rPr lang="ja-JP" altLang="en-US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単位は</a:t>
            </a:r>
            <a:r>
              <a:rPr lang="en-US" altLang="ja-JP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 dBm</a:t>
            </a:r>
            <a:r>
              <a:rPr lang="ja-JP" altLang="en-US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（シベルミリワット） </a:t>
            </a:r>
            <a:br>
              <a:rPr lang="en-US" altLang="ja-JP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r>
              <a:rPr lang="ja-JP" altLang="en-US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通常は負の数（マイナス値）で表され、数値が </a:t>
            </a:r>
            <a:r>
              <a:rPr lang="en-US" altLang="ja-JP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0 </a:t>
            </a:r>
            <a:r>
              <a:rPr lang="ja-JP" altLang="en-US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に近いほど電波が強く、数字が小さくなる（</a:t>
            </a:r>
            <a:r>
              <a:rPr lang="en-US" altLang="ja-JP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-100</a:t>
            </a:r>
            <a:r>
              <a:rPr lang="ja-JP" altLang="en-US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など）ほど電波が弱いことを意味する</a:t>
            </a:r>
            <a:br>
              <a:rPr lang="en-US" altLang="ja-JP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endParaRPr lang="en-US" altLang="ja-JP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718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1CC694E-BAF6-B537-6CB6-B07F86FEB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964" y="100480"/>
            <a:ext cx="3275970" cy="857250"/>
          </a:xfrm>
        </p:spPr>
        <p:txBody>
          <a:bodyPr>
            <a:normAutofit/>
          </a:bodyPr>
          <a:lstStyle/>
          <a:p>
            <a:pPr algn="l"/>
            <a:r>
              <a:rPr lang="en-JP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実装の詳細 2/3</a:t>
            </a:r>
            <a:endParaRPr b="1" dirty="0">
              <a:latin typeface="Tsukushi A Round Gothic Bold" panose="02020400000000000000" pitchFamily="18" charset="-128"/>
              <a:ea typeface="Tsukushi A Round Gothic Bold" panose="02020400000000000000" pitchFamily="18" charset="-128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F061DAA-B23C-70E3-F11A-97F2308A5E6E}"/>
              </a:ext>
            </a:extLst>
          </p:cNvPr>
          <p:cNvSpPr txBox="1">
            <a:spLocks/>
          </p:cNvSpPr>
          <p:nvPr/>
        </p:nvSpPr>
        <p:spPr>
          <a:xfrm>
            <a:off x="457200" y="1125843"/>
            <a:ext cx="8229600" cy="1185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数距離伝搬モデル（</a:t>
            </a:r>
            <a:r>
              <a:rPr lang="en-US" altLang="ja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Log-Distance Path Loss Model</a:t>
            </a:r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）</a:t>
            </a:r>
            <a:br>
              <a:rPr lang="en-US" altLang="ja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というモデルを用いて信号強度から距離を推定</a:t>
            </a:r>
            <a:endParaRPr lang="en-US" altLang="ja-JP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5F9260-D597-CC49-E43C-212851801DB5}"/>
                  </a:ext>
                </a:extLst>
              </p:cNvPr>
              <p:cNvSpPr txBox="1"/>
              <p:nvPr/>
            </p:nvSpPr>
            <p:spPr>
              <a:xfrm>
                <a:off x="189964" y="2479234"/>
                <a:ext cx="4665187" cy="20880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𝑅𝑆𝑆𝐼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𝑅𝑆𝑆𝐼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1600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br>
                  <a:rPr lang="en-US" sz="1600" i="1">
                    <a:latin typeface="Cambria Math" panose="02040503050406030204" pitchFamily="18" charset="0"/>
                  </a:rPr>
                </a:br>
                <a:br>
                  <a:rPr lang="en-US" sz="1600" i="1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𝑅𝑆𝑆𝐼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&amp;: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距離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における受信信号強度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1600" i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dBm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𝑅𝑆𝑆𝐼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&amp;: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基準距離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ja-JP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における受信信号強度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1600" i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dBm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&amp;: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伝搬環境による減衰係数</m:t>
                          </m:r>
                        </m: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&amp;: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求めたい距離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1600" i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&amp;: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基準距離</m:t>
                          </m:r>
                          <m:r>
                            <m:rPr>
                              <m:nor/>
                            </m:rPr>
                            <a:rPr lang="ja-JP" altLang="en-US" sz="16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1600" i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nor/>
                            </m:rPr>
                            <a:rPr lang="en-US" sz="1600" i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eqArr>
                    </m:oMath>
                  </m:oMathPara>
                </a14:m>
                <a:endParaRPr lang="en-JP" sz="160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5F9260-D597-CC49-E43C-212851801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64" y="2479234"/>
                <a:ext cx="4665187" cy="2088007"/>
              </a:xfrm>
              <a:prstGeom prst="rect">
                <a:avLst/>
              </a:prstGeom>
              <a:blipFill>
                <a:blip r:embed="rId2"/>
                <a:stretch>
                  <a:fillRect l="-542" t="-606" r="-1084" b="-424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795DE1-8F8C-274C-3879-7E73B3A2D473}"/>
                  </a:ext>
                </a:extLst>
              </p:cNvPr>
              <p:cNvSpPr txBox="1"/>
              <p:nvPr/>
            </p:nvSpPr>
            <p:spPr>
              <a:xfrm>
                <a:off x="5723296" y="2233568"/>
                <a:ext cx="2963504" cy="2832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𝑅𝑆𝑆𝐼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𝑅𝑆𝑆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𝑅𝑆𝑆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𝑅𝑆𝑆𝐼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US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𝑅𝑆𝑆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𝑅𝑆𝑆𝐼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𝑅𝑆𝑆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𝑅𝑆𝑆𝐼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−59−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𝑅𝑆𝑆𝐼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JP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795DE1-8F8C-274C-3879-7E73B3A2D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296" y="2233568"/>
                <a:ext cx="2963504" cy="2832442"/>
              </a:xfrm>
              <a:prstGeom prst="rect">
                <a:avLst/>
              </a:prstGeom>
              <a:blipFill>
                <a:blip r:embed="rId3"/>
                <a:stretch>
                  <a:fillRect l="-2564" r="-128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BF46-61CF-6452-7F7E-4587DCD49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8F54FD-1842-31B3-C5F7-11AB72B07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964" y="100480"/>
            <a:ext cx="3275970" cy="857250"/>
          </a:xfrm>
        </p:spPr>
        <p:txBody>
          <a:bodyPr>
            <a:normAutofit/>
          </a:bodyPr>
          <a:lstStyle/>
          <a:p>
            <a:pPr algn="l"/>
            <a:r>
              <a:rPr lang="en-JP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実装の詳細 3/3</a:t>
            </a:r>
            <a:endParaRPr b="1" dirty="0">
              <a:latin typeface="Tsukushi A Round Gothic Bold" panose="02020400000000000000" pitchFamily="18" charset="-128"/>
              <a:ea typeface="Tsukushi A Round Gothic Bold" panose="02020400000000000000" pitchFamily="18" charset="-128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5722F02-9897-8377-29AD-2064A6A8A7E2}"/>
              </a:ext>
            </a:extLst>
          </p:cNvPr>
          <p:cNvSpPr txBox="1">
            <a:spLocks/>
          </p:cNvSpPr>
          <p:nvPr/>
        </p:nvSpPr>
        <p:spPr>
          <a:xfrm>
            <a:off x="457200" y="1125843"/>
            <a:ext cx="8229600" cy="380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初回検出時に</a:t>
            </a:r>
            <a:r>
              <a:rPr lang="en-US" altLang="ja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A</a:t>
            </a:r>
            <a:r>
              <a:rPr lang="en-JP" altLang="ja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P</a:t>
            </a:r>
            <a:r>
              <a:rPr lang="ja-JP" altLang="en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を</a:t>
            </a:r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仮配置</a:t>
            </a:r>
            <a:br>
              <a:rPr lang="en-US" altLang="ja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r>
              <a:rPr lang="ja-JP" altLang="en-US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距離成分は算出できるが、偏角成分はまだ算出できない</a:t>
            </a:r>
            <a:endParaRPr lang="en-US" altLang="ja-JP" sz="1800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endParaRPr lang="ja-JP" altLang="en-US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Arduino UNO R4 </a:t>
            </a:r>
            <a:r>
              <a:rPr lang="en-US" dirty="0" err="1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WiFi</a:t>
            </a:r>
            <a:r>
              <a:rPr 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 </a:t>
            </a:r>
            <a:r>
              <a:rPr lang="en-US" dirty="0" err="1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の移動をジャイロセンサで取得</a:t>
            </a:r>
            <a:br>
              <a:rPr lang="en-US" dirty="0" err="1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r>
              <a:rPr lang="ja-JP" altLang="en-US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精度など、問題含み</a:t>
            </a:r>
            <a:endParaRPr lang="ja-JP" altLang="en-US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0" indent="0">
              <a:buNone/>
            </a:pPr>
            <a:endParaRPr lang="en-US" altLang="ja-JP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r>
              <a:rPr lang="ja-JP" altLang="en-US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再観測で三辺測量による位置の補正を実施</a:t>
            </a:r>
            <a:br>
              <a:rPr lang="en-US" altLang="ja-JP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r>
              <a:rPr lang="ja-JP" altLang="en-US" sz="18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理想的には、３つの円周の交差点があれば位置を確定できる</a:t>
            </a:r>
            <a:endParaRPr lang="en-US" altLang="ja-JP" sz="1800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0" indent="0">
              <a:buNone/>
            </a:pPr>
            <a:endParaRPr lang="en-US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0" indent="0">
              <a:buNone/>
            </a:pPr>
            <a:endParaRPr lang="en-US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0" indent="0">
              <a:buNone/>
            </a:pPr>
            <a:endParaRPr lang="en-US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0" indent="0">
              <a:buNone/>
            </a:pPr>
            <a:endParaRPr lang="en-US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688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287A570-3B7A-0434-DA5C-434624BAA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964" y="100480"/>
            <a:ext cx="3275970" cy="857250"/>
          </a:xfrm>
        </p:spPr>
        <p:txBody>
          <a:bodyPr/>
          <a:lstStyle/>
          <a:p>
            <a:pPr algn="l"/>
            <a:r>
              <a:rPr lang="en-JP" b="1" dirty="0" err="1">
                <a:latin typeface="Tsukushi A Round Gothic Bold" panose="02020400000000000000" pitchFamily="18" charset="-128"/>
                <a:ea typeface="Tsukushi A Round Gothic Bold" panose="02020400000000000000" pitchFamily="18" charset="-128"/>
              </a:rPr>
              <a:t>描画結果</a:t>
            </a:r>
            <a:endParaRPr b="1" dirty="0">
              <a:latin typeface="Tsukushi A Round Gothic Bold" panose="02020400000000000000" pitchFamily="18" charset="-128"/>
              <a:ea typeface="Tsukushi A Round Gothic Bold" panose="02020400000000000000" pitchFamily="18" charset="-128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9EEA6F-F32D-7AF8-1033-78F8AC5EEC1B}"/>
              </a:ext>
            </a:extLst>
          </p:cNvPr>
          <p:cNvSpPr txBox="1">
            <a:spLocks/>
          </p:cNvSpPr>
          <p:nvPr/>
        </p:nvSpPr>
        <p:spPr>
          <a:xfrm>
            <a:off x="356715" y="1182556"/>
            <a:ext cx="4144946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0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AP</a:t>
            </a:r>
            <a:r>
              <a:rPr lang="ja-JP" altLang="en-US" sz="20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の位置を表示</a:t>
            </a:r>
          </a:p>
          <a:p>
            <a:pPr marL="0" indent="0">
              <a:buNone/>
            </a:pPr>
            <a:r>
              <a:rPr lang="ja-JP" altLang="en-US" sz="20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（スキャンに６秒ほどかかる）</a:t>
            </a:r>
            <a:endParaRPr lang="en-US" altLang="ja-JP" sz="2000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pPr marL="0" indent="0">
              <a:buNone/>
            </a:pPr>
            <a:endParaRPr lang="ja-JP" altLang="en-US" sz="2000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r>
              <a:rPr lang="en-US" altLang="ja-JP" sz="20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SSID, RSSI, </a:t>
            </a:r>
            <a:r>
              <a:rPr lang="ja-JP" altLang="en-US" sz="20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推定距離を表示</a:t>
            </a:r>
          </a:p>
          <a:p>
            <a:endParaRPr lang="ja-JP" altLang="en-US" sz="2000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r>
              <a:rPr lang="ja-JP" altLang="en-US" sz="20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記録した地点を表示</a:t>
            </a:r>
            <a:endParaRPr lang="en-US" altLang="ja-JP" sz="2000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endParaRPr lang="en-US" altLang="ja-JP" sz="2000" dirty="0">
              <a:latin typeface="Tsukushi A Round Gothic Regular" panose="02020400000000000000" pitchFamily="18" charset="-128"/>
              <a:ea typeface="Tsukushi A Round Gothic Regular" panose="02020400000000000000" pitchFamily="18" charset="-128"/>
            </a:endParaRPr>
          </a:p>
          <a:p>
            <a:r>
              <a:rPr lang="ja-JP" altLang="en-US" sz="20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交差点が発見できれば</a:t>
            </a:r>
            <a:br>
              <a:rPr lang="en-US" altLang="ja-JP" sz="20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</a:br>
            <a:r>
              <a:rPr lang="en-US" altLang="ja-JP" sz="20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X</a:t>
            </a:r>
            <a:r>
              <a:rPr lang="ja-JP" altLang="en-US" sz="2000" dirty="0">
                <a:latin typeface="Tsukushi A Round Gothic Regular" panose="02020400000000000000" pitchFamily="18" charset="-128"/>
                <a:ea typeface="Tsukushi A Round Gothic Regular" panose="02020400000000000000" pitchFamily="18" charset="-128"/>
              </a:rPr>
              <a:t>印で表示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01C748-6D89-62B2-2CE9-0F61E6F2A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94" y="-139485"/>
            <a:ext cx="5455492" cy="56229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367</Words>
  <Application>Microsoft Macintosh PowerPoint</Application>
  <PresentationFormat>On-screen Show (16:9)</PresentationFormat>
  <Paragraphs>44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Tsukushi A Round Gothic Bold</vt:lpstr>
      <vt:lpstr>Tsukushi A Round Gothic Regular</vt:lpstr>
      <vt:lpstr>Aptos</vt:lpstr>
      <vt:lpstr>Arial</vt:lpstr>
      <vt:lpstr>Calibri</vt:lpstr>
      <vt:lpstr>Cambria Math</vt:lpstr>
      <vt:lpstr>Office Theme</vt:lpstr>
      <vt:lpstr>WiFi の受信信号強度を利用した アクセスポイントの可視化</vt:lpstr>
      <vt:lpstr>PowerPoint Presentation</vt:lpstr>
      <vt:lpstr>PowerPoint Presentation</vt:lpstr>
      <vt:lpstr>PowerPoint Presentation</vt:lpstr>
      <vt:lpstr>システム構成</vt:lpstr>
      <vt:lpstr>実装の詳細 1/3</vt:lpstr>
      <vt:lpstr>実装の詳細 2/3</vt:lpstr>
      <vt:lpstr>実装の詳細 3/3</vt:lpstr>
      <vt:lpstr>描画結果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SHIMAMOTO Keisuke</cp:lastModifiedBy>
  <cp:revision>38</cp:revision>
  <cp:lastPrinted>2026-06-02T06:45:16Z</cp:lastPrinted>
  <dcterms:created xsi:type="dcterms:W3CDTF">2013-01-27T09:14:16Z</dcterms:created>
  <dcterms:modified xsi:type="dcterms:W3CDTF">2026-06-02T09:05:23Z</dcterms:modified>
  <cp:category/>
</cp:coreProperties>
</file>